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6256000" cy="9144000"/>
  <p:notesSz cx="9144000" cy="16256000"/>
  <p:embeddedFontLst>
    <p:embeddedFont>
      <p:font typeface="Quattrocento Sans" charset="-122" pitchFamily="34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pfdy65vf77k4/mnt/agents/output/accident-prediction/images/1_90_Traffic_In_The_Street_Of_Addis.png">    </p:cNvPr>
          <p:cNvPicPr>
            <a:picLocks noChangeAspect="1"/>
          </p:cNvPicPr>
          <p:nvPr/>
        </p:nvPicPr>
        <p:blipFill>
          <a:blip r:embed="rId1"/>
          <a:srcRect l="11220" r="1122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3142">
                  <a:alpha val="90000"/>
                </a:srgbClr>
              </a:gs>
              <a:gs pos="50000">
                <a:srgbClr val="2D3142">
                  <a:alpha val="80000"/>
                </a:srgbClr>
              </a:gs>
              <a:gs pos="100000">
                <a:srgbClr val="2D3142">
                  <a:alpha val="50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0"/>
          </a:xfrm>
          <a:prstGeom prst="straightConnector1">
            <a:avLst/>
          </a:prstGeom>
          <a:noFill/>
          <a:ln w="25400">
            <a:solidFill>
              <a:srgbClr val="BC4B51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778000" y="3175000"/>
            <a:ext cx="1270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Prédiction de la Gravité des Accidents de la Route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048000" y="4762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End-to-End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048000" y="5334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du dataset d'Addis-Abeba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0" y="6096000"/>
            <a:ext cx="2540000" cy="0"/>
          </a:xfrm>
          <a:prstGeom prst="straightConnector1">
            <a:avLst/>
          </a:prstGeom>
          <a:noFill/>
          <a:ln w="25400">
            <a:solidFill>
              <a:srgbClr val="BC4B51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032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1000" y="419100"/>
            <a:ext cx="1270000" cy="38100"/>
          </a:xfrm>
          <a:prstGeom prst="rect">
            <a:avLst/>
          </a:prstGeom>
          <a:solidFill>
            <a:srgbClr val="BC4B51"/>
          </a:solidFill>
          <a:ln/>
        </p:spPr>
      </p:sp>
      <p:sp>
        <p:nvSpPr>
          <p:cNvPr id="5" name="Text 3"/>
          <p:cNvSpPr/>
          <p:nvPr/>
        </p:nvSpPr>
        <p:spPr>
          <a:xfrm>
            <a:off x="2032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4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MODÉLISATION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60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192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7112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Contexte et Problématique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70000"/>
            <a:ext cx="1016000" cy="0"/>
          </a:xfrm>
          <a:prstGeom prst="straightConnector1">
            <a:avLst/>
          </a:prstGeom>
          <a:noFill/>
          <a:ln w="38100">
            <a:solidFill>
              <a:srgbClr val="BC4B51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62000" y="1651000"/>
            <a:ext cx="4572000" cy="6604000"/>
          </a:xfrm>
          <a:prstGeom prst="rect">
            <a:avLst/>
          </a:prstGeom>
          <a:solidFill>
            <a:srgbClr val="EDEAE6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651000"/>
            <a:ext cx="4572000" cy="63500"/>
          </a:xfrm>
          <a:prstGeom prst="rect">
            <a:avLst/>
          </a:prstGeom>
          <a:solidFill>
            <a:srgbClr val="BC4B5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196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BC4B51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26035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Problème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16000" y="3175000"/>
            <a:ext cx="4064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accidents de la route causent de nombreuses victimes.</a:t>
            </a:r>
            <a:endParaRPr lang="en-US" sz="20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BC4B5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Peut-on anticiper leur gravité</a:t>
            </a:r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mieux allouer les secours ?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842000" y="1651000"/>
            <a:ext cx="4572000" cy="6604000"/>
          </a:xfrm>
          <a:prstGeom prst="rect">
            <a:avLst/>
          </a:prstGeom>
          <a:solidFill>
            <a:srgbClr val="EDEAE6"/>
          </a:solidFill>
          <a:ln/>
        </p:spPr>
      </p:sp>
      <p:sp>
        <p:nvSpPr>
          <p:cNvPr id="19" name="Shape 17"/>
          <p:cNvSpPr/>
          <p:nvPr/>
        </p:nvSpPr>
        <p:spPr>
          <a:xfrm>
            <a:off x="5842000" y="1651000"/>
            <a:ext cx="4572000" cy="635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0" y="196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1" name="Text 19"/>
          <p:cNvSpPr/>
          <p:nvPr/>
        </p:nvSpPr>
        <p:spPr>
          <a:xfrm>
            <a:off x="6096000" y="26035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L'Objectif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096000" y="3175000"/>
            <a:ext cx="406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Prédire si un accident sera :</a:t>
            </a:r>
            <a:endParaRPr lang="en-US" sz="20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"Léger"</a:t>
            </a:r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"Grave"</a:t>
            </a:r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 </a:t>
            </a:r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BC4B5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"Fatal"</a:t>
            </a:r>
            <a:endParaRPr lang="en-US" sz="20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(Classification Multiclasse)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922000" y="1651000"/>
            <a:ext cx="4572000" cy="6604000"/>
          </a:xfrm>
          <a:prstGeom prst="rect">
            <a:avLst/>
          </a:prstGeom>
          <a:solidFill>
            <a:srgbClr val="EDEAE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22000" y="1651000"/>
            <a:ext cx="4572000" cy="63500"/>
          </a:xfrm>
          <a:prstGeom prst="rect">
            <a:avLst/>
          </a:prstGeom>
          <a:solidFill>
            <a:srgbClr val="8B9EB7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76000" y="196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183773"/>
                </a:moveTo>
                <a:cubicBezTo>
                  <a:pt x="442096" y="192524"/>
                  <a:pt x="424747" y="199579"/>
                  <a:pt x="406683" y="205204"/>
                </a:cubicBezTo>
                <a:cubicBezTo>
                  <a:pt x="358718" y="220206"/>
                  <a:pt x="295751" y="228600"/>
                  <a:pt x="228600" y="228600"/>
                </a:cubicBezTo>
                <a:cubicBezTo>
                  <a:pt x="161449" y="228600"/>
                  <a:pt x="98380" y="220117"/>
                  <a:pt x="50517" y="205204"/>
                </a:cubicBezTo>
                <a:cubicBezTo>
                  <a:pt x="32555" y="199579"/>
                  <a:pt x="15104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102360" y="328613"/>
                  <a:pt x="228600" y="328613"/>
                </a:cubicBezTo>
                <a:cubicBezTo>
                  <a:pt x="354840" y="328613"/>
                  <a:pt x="457200" y="296644"/>
                  <a:pt x="457200" y="257175"/>
                </a:cubicBezTo>
                <a:lnTo>
                  <a:pt x="457200" y="183773"/>
                </a:lnTo>
                <a:close/>
                <a:moveTo>
                  <a:pt x="457200" y="114300"/>
                </a:moveTo>
                <a:lnTo>
                  <a:pt x="457200" y="71438"/>
                </a:lnTo>
                <a:cubicBezTo>
                  <a:pt x="457200" y="31968"/>
                  <a:pt x="354840" y="0"/>
                  <a:pt x="228600" y="0"/>
                </a:cubicBezTo>
                <a:cubicBezTo>
                  <a:pt x="102360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102360" y="185738"/>
                  <a:pt x="228600" y="185738"/>
                </a:cubicBezTo>
                <a:cubicBezTo>
                  <a:pt x="354840" y="185738"/>
                  <a:pt x="457200" y="153769"/>
                  <a:pt x="457200" y="114300"/>
                </a:cubicBezTo>
                <a:close/>
                <a:moveTo>
                  <a:pt x="406683" y="348079"/>
                </a:moveTo>
                <a:cubicBezTo>
                  <a:pt x="358820" y="362992"/>
                  <a:pt x="295853" y="371475"/>
                  <a:pt x="228600" y="371475"/>
                </a:cubicBezTo>
                <a:cubicBezTo>
                  <a:pt x="161347" y="371475"/>
                  <a:pt x="98380" y="362992"/>
                  <a:pt x="50517" y="348079"/>
                </a:cubicBezTo>
                <a:cubicBezTo>
                  <a:pt x="32555" y="342454"/>
                  <a:pt x="15104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102360" y="457200"/>
                  <a:pt x="228600" y="457200"/>
                </a:cubicBezTo>
                <a:cubicBezTo>
                  <a:pt x="354840" y="457200"/>
                  <a:pt x="457200" y="425232"/>
                  <a:pt x="457200" y="385763"/>
                </a:cubicBezTo>
                <a:lnTo>
                  <a:pt x="457200" y="326648"/>
                </a:lnTo>
                <a:cubicBezTo>
                  <a:pt x="442096" y="335399"/>
                  <a:pt x="424747" y="342454"/>
                  <a:pt x="406683" y="348079"/>
                </a:cubicBezTo>
                <a:close/>
              </a:path>
            </a:pathLst>
          </a:custGeom>
          <a:solidFill>
            <a:srgbClr val="8B9EB7"/>
          </a:solidFill>
          <a:ln/>
        </p:spPr>
      </p:sp>
      <p:sp>
        <p:nvSpPr>
          <p:cNvPr id="26" name="Text 24"/>
          <p:cNvSpPr/>
          <p:nvPr/>
        </p:nvSpPr>
        <p:spPr>
          <a:xfrm>
            <a:off x="11176000" y="26035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Dataset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176000" y="3175000"/>
            <a:ext cx="4064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32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12 316</a:t>
            </a:r>
            <a:endParaRPr lang="en-US" sz="3200" dirty="0"/>
          </a:p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lignes</a:t>
            </a:r>
            <a:endParaRPr lang="en-US" sz="32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</a:t>
            </a:r>
            <a:endParaRPr lang="en-US" sz="3200" dirty="0"/>
          </a:p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</a:t>
            </a:r>
            <a:endParaRPr lang="en-US" sz="3200" dirty="0"/>
          </a:p>
          <a:p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1400" dirty="0">
                <a:solidFill>
                  <a:srgbClr val="8B9EB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: Kaggle - Road Traffic Accidents in Addis Ababa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EB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2/8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32000" y="0"/>
            <a:ext cx="2032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413000" y="419100"/>
            <a:ext cx="1270000" cy="38100"/>
          </a:xfrm>
          <a:prstGeom prst="rect">
            <a:avLst/>
          </a:prstGeom>
          <a:solidFill>
            <a:srgbClr val="BC4B51"/>
          </a:solidFill>
          <a:ln/>
        </p:spPr>
      </p:sp>
      <p:sp>
        <p:nvSpPr>
          <p:cNvPr id="6" name="Text 4"/>
          <p:cNvSpPr/>
          <p:nvPr/>
        </p:nvSpPr>
        <p:spPr>
          <a:xfrm>
            <a:off x="4064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MODÉLISATION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60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192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7112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Exploratoire (EDA)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70000"/>
            <a:ext cx="1016000" cy="0"/>
          </a:xfrm>
          <a:prstGeom prst="straightConnector1">
            <a:avLst/>
          </a:prstGeom>
          <a:noFill/>
          <a:ln w="38100">
            <a:solidFill>
              <a:srgbClr val="BC4B51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62000" y="1524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Observations Clés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2000" y="20320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La majorité des conducteurs impliqués ont entre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 et 30 ans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La plupart des accidents se produisent en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journée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 de bonnes conditions météo.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3937000"/>
            <a:ext cx="6350000" cy="698500"/>
          </a:xfrm>
          <a:prstGeom prst="rect">
            <a:avLst/>
          </a:prstGeom>
          <a:solidFill>
            <a:srgbClr val="BC4B51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3937000"/>
            <a:ext cx="63500" cy="698500"/>
          </a:xfrm>
          <a:prstGeom prst="rect">
            <a:avLst/>
          </a:prstGeom>
          <a:solidFill>
            <a:srgbClr val="BC4B51"/>
          </a:solidFill>
          <a:ln/>
        </p:spPr>
      </p:sp>
      <p:sp>
        <p:nvSpPr>
          <p:cNvPr id="17" name="Shape 15"/>
          <p:cNvSpPr/>
          <p:nvPr/>
        </p:nvSpPr>
        <p:spPr>
          <a:xfrm>
            <a:off x="990600" y="408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BC4B51"/>
          </a:solidFill>
          <a:ln/>
        </p:spPr>
      </p:sp>
      <p:sp>
        <p:nvSpPr>
          <p:cNvPr id="18" name="Text 16"/>
          <p:cNvSpPr/>
          <p:nvPr/>
        </p:nvSpPr>
        <p:spPr>
          <a:xfrm>
            <a:off x="1473200" y="39370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BC4B5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Défi majeur 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BC4B5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Les données sont fortement déséquilibrées.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4953000"/>
            <a:ext cx="1968500" cy="12700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5016500"/>
            <a:ext cx="196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~84%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62000" y="5651500"/>
            <a:ext cx="196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Léger (Slight)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946400" y="4953000"/>
            <a:ext cx="1968500" cy="12700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23" name="Text 21"/>
          <p:cNvSpPr/>
          <p:nvPr/>
        </p:nvSpPr>
        <p:spPr>
          <a:xfrm>
            <a:off x="2946400" y="5016500"/>
            <a:ext cx="196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~14%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2946400" y="5651500"/>
            <a:ext cx="196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Grave (Serious)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143500" y="4953000"/>
            <a:ext cx="1968500" cy="1270000"/>
          </a:xfrm>
          <a:prstGeom prst="rect">
            <a:avLst/>
          </a:prstGeom>
          <a:solidFill>
            <a:srgbClr val="BC4B51"/>
          </a:solidFill>
          <a:ln/>
        </p:spPr>
      </p:sp>
      <p:sp>
        <p:nvSpPr>
          <p:cNvPr id="26" name="Text 24"/>
          <p:cNvSpPr/>
          <p:nvPr/>
        </p:nvSpPr>
        <p:spPr>
          <a:xfrm>
            <a:off x="5143500" y="5016500"/>
            <a:ext cx="196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~1%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143500" y="5651500"/>
            <a:ext cx="196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Fatal (Fatal)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874000" y="152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Distribution des Classes</a:t>
            </a:r>
            <a:endParaRPr lang="en-US" sz="2200" dirty="0"/>
          </a:p>
        </p:txBody>
      </p:sp>
      <p:pic>
        <p:nvPicPr>
          <p:cNvPr id="29" name="Image 0" descr="https://kimi-img.moonshot.cn/pub/slides/okc/ypfdy65vf77k4/mnt/agents/output/accident-prediction/images/class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74000" y="2032000"/>
            <a:ext cx="7620000" cy="60960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EB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3/8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32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2032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45000" y="419100"/>
            <a:ext cx="1270000" cy="38100"/>
          </a:xfrm>
          <a:prstGeom prst="rect">
            <a:avLst/>
          </a:prstGeom>
          <a:solidFill>
            <a:srgbClr val="BC4B51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MODÉLISATION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60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192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de Pré-traitement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70000"/>
            <a:ext cx="1016000" cy="0"/>
          </a:xfrm>
          <a:prstGeom prst="straightConnector1">
            <a:avLst/>
          </a:prstGeom>
          <a:noFill/>
          <a:ln w="38100">
            <a:solidFill>
              <a:srgbClr val="BC4B51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62000" y="1778000"/>
            <a:ext cx="4318000" cy="6350000"/>
          </a:xfrm>
          <a:prstGeom prst="rect">
            <a:avLst/>
          </a:prstGeom>
          <a:solidFill>
            <a:srgbClr val="EDEAE6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1905000"/>
            <a:ext cx="431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8B9EB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2540000" y="279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95300" y="247650"/>
                </a:moveTo>
                <a:cubicBezTo>
                  <a:pt x="495300" y="302300"/>
                  <a:pt x="477560" y="352782"/>
                  <a:pt x="447675" y="393740"/>
                </a:cubicBezTo>
                <a:lnTo>
                  <a:pt x="598408" y="544592"/>
                </a:lnTo>
                <a:cubicBezTo>
                  <a:pt x="613291" y="559475"/>
                  <a:pt x="613291" y="583644"/>
                  <a:pt x="598408" y="598527"/>
                </a:cubicBezTo>
                <a:cubicBezTo>
                  <a:pt x="583525" y="613410"/>
                  <a:pt x="559356" y="613410"/>
                  <a:pt x="544473" y="598527"/>
                </a:cubicBezTo>
                <a:lnTo>
                  <a:pt x="393740" y="447675"/>
                </a:lnTo>
                <a:cubicBezTo>
                  <a:pt x="352782" y="477560"/>
                  <a:pt x="302300" y="495300"/>
                  <a:pt x="247650" y="495300"/>
                </a:cubicBezTo>
                <a:cubicBezTo>
                  <a:pt x="110847" y="495300"/>
                  <a:pt x="0" y="384453"/>
                  <a:pt x="0" y="247650"/>
                </a:cubicBezTo>
                <a:cubicBezTo>
                  <a:pt x="0" y="110847"/>
                  <a:pt x="110847" y="0"/>
                  <a:pt x="247650" y="0"/>
                </a:cubicBezTo>
                <a:cubicBezTo>
                  <a:pt x="384453" y="0"/>
                  <a:pt x="495300" y="110847"/>
                  <a:pt x="495300" y="247650"/>
                </a:cubicBezTo>
                <a:close/>
                <a:moveTo>
                  <a:pt x="247650" y="419100"/>
                </a:moveTo>
                <a:cubicBezTo>
                  <a:pt x="342276" y="419100"/>
                  <a:pt x="419100" y="342276"/>
                  <a:pt x="419100" y="247650"/>
                </a:cubicBezTo>
                <a:cubicBezTo>
                  <a:pt x="419100" y="153024"/>
                  <a:pt x="342276" y="76200"/>
                  <a:pt x="247650" y="76200"/>
                </a:cubicBezTo>
                <a:cubicBezTo>
                  <a:pt x="153024" y="76200"/>
                  <a:pt x="76200" y="153024"/>
                  <a:pt x="76200" y="247650"/>
                </a:cubicBezTo>
                <a:cubicBezTo>
                  <a:pt x="76200" y="342276"/>
                  <a:pt x="153024" y="419100"/>
                  <a:pt x="247650" y="419100"/>
                </a:cubicBezTo>
                <a:close/>
              </a:path>
            </a:pathLst>
          </a:custGeom>
          <a:solidFill>
            <a:srgbClr val="2D3142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3619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Valeurs Manquantes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16000" y="4191000"/>
            <a:ext cx="381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Remplacement des valeurs nulles par la mention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"Unknown"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  <a:p>
            <a:pPr algn="ctr">
              <a:lnSpc>
                <a:spcPct val="16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8B9EB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(très présentes dans la colonne "Defect of vehicle")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207000" y="4572000"/>
            <a:ext cx="381000" cy="0"/>
          </a:xfrm>
          <a:prstGeom prst="straightConnector1">
            <a:avLst/>
          </a:prstGeom>
          <a:noFill/>
          <a:ln w="25400">
            <a:solidFill>
              <a:srgbClr val="8B9EB7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5715000" y="1778000"/>
            <a:ext cx="4318000" cy="6350000"/>
          </a:xfrm>
          <a:prstGeom prst="rect">
            <a:avLst/>
          </a:prstGeom>
          <a:solidFill>
            <a:srgbClr val="EDEAE6"/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0" y="1905000"/>
            <a:ext cx="431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8B9EB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4800" dirty="0"/>
          </a:p>
        </p:txBody>
      </p:sp>
      <p:sp>
        <p:nvSpPr>
          <p:cNvPr id="21" name="Shape 19"/>
          <p:cNvSpPr/>
          <p:nvPr/>
        </p:nvSpPr>
        <p:spPr>
          <a:xfrm>
            <a:off x="7493000" y="279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99652" y="65008"/>
                </a:moveTo>
                <a:cubicBezTo>
                  <a:pt x="612881" y="50125"/>
                  <a:pt x="612881" y="25956"/>
                  <a:pt x="599652" y="11073"/>
                </a:cubicBezTo>
                <a:cubicBezTo>
                  <a:pt x="586423" y="-3810"/>
                  <a:pt x="564938" y="-3810"/>
                  <a:pt x="551709" y="11073"/>
                </a:cubicBezTo>
                <a:lnTo>
                  <a:pt x="348509" y="239673"/>
                </a:lnTo>
                <a:lnTo>
                  <a:pt x="311785" y="198358"/>
                </a:lnTo>
                <a:cubicBezTo>
                  <a:pt x="307340" y="193358"/>
                  <a:pt x="301202" y="190500"/>
                  <a:pt x="294852" y="190500"/>
                </a:cubicBezTo>
                <a:cubicBezTo>
                  <a:pt x="281623" y="190500"/>
                  <a:pt x="270933" y="202525"/>
                  <a:pt x="270933" y="217408"/>
                </a:cubicBezTo>
                <a:lnTo>
                  <a:pt x="270933" y="252055"/>
                </a:lnTo>
                <a:lnTo>
                  <a:pt x="385551" y="381000"/>
                </a:lnTo>
                <a:lnTo>
                  <a:pt x="416348" y="381000"/>
                </a:lnTo>
                <a:cubicBezTo>
                  <a:pt x="429578" y="381000"/>
                  <a:pt x="440267" y="368975"/>
                  <a:pt x="440267" y="354092"/>
                </a:cubicBezTo>
                <a:cubicBezTo>
                  <a:pt x="440267" y="346948"/>
                  <a:pt x="437727" y="340042"/>
                  <a:pt x="433282" y="335042"/>
                </a:cubicBezTo>
                <a:lnTo>
                  <a:pt x="396558" y="293727"/>
                </a:lnTo>
                <a:lnTo>
                  <a:pt x="599758" y="65127"/>
                </a:lnTo>
                <a:close/>
                <a:moveTo>
                  <a:pt x="360998" y="420767"/>
                </a:moveTo>
                <a:lnTo>
                  <a:pt x="235585" y="279678"/>
                </a:lnTo>
                <a:cubicBezTo>
                  <a:pt x="190394" y="275273"/>
                  <a:pt x="145415" y="293608"/>
                  <a:pt x="113030" y="330041"/>
                </a:cubicBezTo>
                <a:lnTo>
                  <a:pt x="104563" y="339566"/>
                </a:lnTo>
                <a:cubicBezTo>
                  <a:pt x="80962" y="366117"/>
                  <a:pt x="67733" y="402074"/>
                  <a:pt x="67733" y="439579"/>
                </a:cubicBezTo>
                <a:cubicBezTo>
                  <a:pt x="67733" y="447675"/>
                  <a:pt x="75247" y="452914"/>
                  <a:pt x="81703" y="449342"/>
                </a:cubicBezTo>
                <a:lnTo>
                  <a:pt x="135784" y="418981"/>
                </a:lnTo>
                <a:cubicBezTo>
                  <a:pt x="141076" y="416004"/>
                  <a:pt x="145838" y="423863"/>
                  <a:pt x="141499" y="428387"/>
                </a:cubicBezTo>
                <a:lnTo>
                  <a:pt x="7726" y="563642"/>
                </a:lnTo>
                <a:cubicBezTo>
                  <a:pt x="2858" y="568643"/>
                  <a:pt x="0" y="575786"/>
                  <a:pt x="0" y="583287"/>
                </a:cubicBezTo>
                <a:cubicBezTo>
                  <a:pt x="0" y="597813"/>
                  <a:pt x="10478" y="609600"/>
                  <a:pt x="23389" y="609600"/>
                </a:cubicBezTo>
                <a:lnTo>
                  <a:pt x="206798" y="609600"/>
                </a:lnTo>
                <a:cubicBezTo>
                  <a:pt x="247862" y="609600"/>
                  <a:pt x="287126" y="591264"/>
                  <a:pt x="316230" y="558641"/>
                </a:cubicBezTo>
                <a:cubicBezTo>
                  <a:pt x="348615" y="522208"/>
                  <a:pt x="364808" y="471607"/>
                  <a:pt x="360998" y="420767"/>
                </a:cubicBezTo>
                <a:close/>
              </a:path>
            </a:pathLst>
          </a:custGeom>
          <a:solidFill>
            <a:srgbClr val="2D3142"/>
          </a:solidFill>
          <a:ln/>
        </p:spPr>
      </p:sp>
      <p:sp>
        <p:nvSpPr>
          <p:cNvPr id="22" name="Text 20"/>
          <p:cNvSpPr/>
          <p:nvPr/>
        </p:nvSpPr>
        <p:spPr>
          <a:xfrm>
            <a:off x="5969000" y="3619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Nettoyage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969000" y="4191000"/>
            <a:ext cx="381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Suppression des colonnes non prédictives.</a:t>
            </a:r>
            <a:endParaRPr lang="en-US" sz="1800" dirty="0"/>
          </a:p>
          <a:p>
            <a:pPr algn="ctr">
              <a:lnSpc>
                <a:spcPct val="16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8B9EB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(ex: Time formaté en string complexe)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160000" y="4572000"/>
            <a:ext cx="381000" cy="0"/>
          </a:xfrm>
          <a:prstGeom prst="straightConnector1">
            <a:avLst/>
          </a:prstGeom>
          <a:noFill/>
          <a:ln w="25400">
            <a:solidFill>
              <a:srgbClr val="8B9EB7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0668000" y="1778000"/>
            <a:ext cx="4826000" cy="6350000"/>
          </a:xfrm>
          <a:prstGeom prst="rect">
            <a:avLst/>
          </a:prstGeom>
          <a:solidFill>
            <a:srgbClr val="EDEAE6"/>
          </a:solidFill>
          <a:ln/>
        </p:spPr>
      </p:sp>
      <p:sp>
        <p:nvSpPr>
          <p:cNvPr id="26" name="Text 24"/>
          <p:cNvSpPr/>
          <p:nvPr/>
        </p:nvSpPr>
        <p:spPr>
          <a:xfrm>
            <a:off x="10668000" y="1905000"/>
            <a:ext cx="482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8B9EB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4800" dirty="0"/>
          </a:p>
        </p:txBody>
      </p:sp>
      <p:sp>
        <p:nvSpPr>
          <p:cNvPr id="27" name="Shape 25"/>
          <p:cNvSpPr/>
          <p:nvPr/>
        </p:nvSpPr>
        <p:spPr>
          <a:xfrm>
            <a:off x="12700000" y="279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81847" y="1429"/>
                </a:moveTo>
                <a:cubicBezTo>
                  <a:pt x="363855" y="-4405"/>
                  <a:pt x="345123" y="7382"/>
                  <a:pt x="339937" y="27622"/>
                </a:cubicBezTo>
                <a:lnTo>
                  <a:pt x="204470" y="561023"/>
                </a:lnTo>
                <a:cubicBezTo>
                  <a:pt x="199284" y="581263"/>
                  <a:pt x="209762" y="602337"/>
                  <a:pt x="227753" y="608171"/>
                </a:cubicBezTo>
                <a:cubicBezTo>
                  <a:pt x="245745" y="614005"/>
                  <a:pt x="264478" y="602218"/>
                  <a:pt x="269663" y="581978"/>
                </a:cubicBezTo>
                <a:lnTo>
                  <a:pt x="405130" y="48578"/>
                </a:lnTo>
                <a:cubicBezTo>
                  <a:pt x="410316" y="28337"/>
                  <a:pt x="399838" y="7263"/>
                  <a:pt x="381847" y="1429"/>
                </a:cubicBezTo>
                <a:close/>
                <a:moveTo>
                  <a:pt x="450215" y="163473"/>
                </a:moveTo>
                <a:cubicBezTo>
                  <a:pt x="436986" y="178356"/>
                  <a:pt x="436986" y="202525"/>
                  <a:pt x="450215" y="217408"/>
                </a:cubicBezTo>
                <a:lnTo>
                  <a:pt x="527897" y="304800"/>
                </a:lnTo>
                <a:lnTo>
                  <a:pt x="450215" y="392192"/>
                </a:lnTo>
                <a:cubicBezTo>
                  <a:pt x="436986" y="407075"/>
                  <a:pt x="436986" y="431244"/>
                  <a:pt x="450215" y="446127"/>
                </a:cubicBezTo>
                <a:cubicBezTo>
                  <a:pt x="463444" y="461010"/>
                  <a:pt x="484928" y="461010"/>
                  <a:pt x="498157" y="446127"/>
                </a:cubicBezTo>
                <a:lnTo>
                  <a:pt x="599758" y="331827"/>
                </a:lnTo>
                <a:cubicBezTo>
                  <a:pt x="612987" y="316944"/>
                  <a:pt x="612987" y="292775"/>
                  <a:pt x="599758" y="277892"/>
                </a:cubicBezTo>
                <a:lnTo>
                  <a:pt x="498158" y="163592"/>
                </a:lnTo>
                <a:cubicBezTo>
                  <a:pt x="484928" y="148709"/>
                  <a:pt x="463444" y="148709"/>
                  <a:pt x="450215" y="163592"/>
                </a:cubicBezTo>
                <a:close/>
                <a:moveTo>
                  <a:pt x="159491" y="163473"/>
                </a:moveTo>
                <a:cubicBezTo>
                  <a:pt x="146262" y="148590"/>
                  <a:pt x="124777" y="148590"/>
                  <a:pt x="111548" y="163473"/>
                </a:cubicBezTo>
                <a:lnTo>
                  <a:pt x="9948" y="277773"/>
                </a:lnTo>
                <a:cubicBezTo>
                  <a:pt x="-3281" y="292656"/>
                  <a:pt x="-3281" y="316825"/>
                  <a:pt x="9948" y="331708"/>
                </a:cubicBezTo>
                <a:lnTo>
                  <a:pt x="111548" y="446008"/>
                </a:lnTo>
                <a:cubicBezTo>
                  <a:pt x="124777" y="460891"/>
                  <a:pt x="146262" y="460891"/>
                  <a:pt x="159491" y="446008"/>
                </a:cubicBezTo>
                <a:cubicBezTo>
                  <a:pt x="172720" y="431125"/>
                  <a:pt x="172720" y="406956"/>
                  <a:pt x="159491" y="392073"/>
                </a:cubicBezTo>
                <a:lnTo>
                  <a:pt x="81809" y="304800"/>
                </a:lnTo>
                <a:lnTo>
                  <a:pt x="159385" y="217408"/>
                </a:lnTo>
                <a:cubicBezTo>
                  <a:pt x="172614" y="202525"/>
                  <a:pt x="172614" y="178356"/>
                  <a:pt x="159385" y="163473"/>
                </a:cubicBezTo>
                <a:close/>
              </a:path>
            </a:pathLst>
          </a:custGeom>
          <a:solidFill>
            <a:srgbClr val="2D3142"/>
          </a:solidFill>
          <a:ln/>
        </p:spPr>
      </p:sp>
      <p:sp>
        <p:nvSpPr>
          <p:cNvPr id="28" name="Text 26"/>
          <p:cNvSpPr/>
          <p:nvPr/>
        </p:nvSpPr>
        <p:spPr>
          <a:xfrm>
            <a:off x="10922000" y="3619500"/>
            <a:ext cx="431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922000" y="4191000"/>
            <a:ext cx="431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Transformation des données textuelles en valeurs numériques.</a:t>
            </a:r>
            <a:endParaRPr lang="en-US" sz="1800" dirty="0"/>
          </a:p>
          <a:p>
            <a:pPr algn="ctr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LabelEncoder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8B9EB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EB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4/8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32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0" y="0"/>
            <a:ext cx="2032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MODÉLISATION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77000" y="419100"/>
            <a:ext cx="1270000" cy="38100"/>
          </a:xfrm>
          <a:prstGeom prst="rect">
            <a:avLst/>
          </a:prstGeom>
          <a:solidFill>
            <a:srgbClr val="BC4B51"/>
          </a:solidFill>
          <a:ln/>
        </p:spPr>
      </p:sp>
      <p:sp>
        <p:nvSpPr>
          <p:cNvPr id="8" name="Text 6"/>
          <p:cNvSpPr/>
          <p:nvPr/>
        </p:nvSpPr>
        <p:spPr>
          <a:xfrm>
            <a:off x="8128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60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192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Modélisation et Algorithmes Testés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70000"/>
            <a:ext cx="1016000" cy="0"/>
          </a:xfrm>
          <a:prstGeom prst="straightConnector1">
            <a:avLst/>
          </a:prstGeom>
          <a:noFill/>
          <a:ln w="38100">
            <a:solidFill>
              <a:srgbClr val="BC4B51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62000" y="1651000"/>
            <a:ext cx="4572000" cy="4826000"/>
          </a:xfrm>
          <a:prstGeom prst="rect">
            <a:avLst/>
          </a:prstGeom>
          <a:solidFill>
            <a:srgbClr val="EDEAE6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651000"/>
            <a:ext cx="4572000" cy="76200"/>
          </a:xfrm>
          <a:prstGeom prst="rect">
            <a:avLst/>
          </a:prstGeom>
          <a:solidFill>
            <a:srgbClr val="8B9EB7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8B9EB7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27305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Régression Logistique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16000" y="3302000"/>
            <a:ext cx="406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Modèle linéaire basique servant de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la comparaison.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400" dirty="0">
                <a:solidFill>
                  <a:srgbClr val="8B9EB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et interprétable, mais limité pour capturer des relations complexes.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842000" y="1651000"/>
            <a:ext cx="4572000" cy="4826000"/>
          </a:xfrm>
          <a:prstGeom prst="rect">
            <a:avLst/>
          </a:prstGeom>
          <a:solidFill>
            <a:srgbClr val="EDEAE6"/>
          </a:solidFill>
          <a:ln/>
        </p:spPr>
      </p:sp>
      <p:sp>
        <p:nvSpPr>
          <p:cNvPr id="19" name="Shape 17"/>
          <p:cNvSpPr/>
          <p:nvPr/>
        </p:nvSpPr>
        <p:spPr>
          <a:xfrm>
            <a:off x="5842000" y="1651000"/>
            <a:ext cx="4572000" cy="762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0500" y="63500"/>
                </a:moveTo>
                <a:cubicBezTo>
                  <a:pt x="190500" y="45938"/>
                  <a:pt x="204688" y="31750"/>
                  <a:pt x="222250" y="31750"/>
                </a:cubicBezTo>
                <a:lnTo>
                  <a:pt x="285750" y="31750"/>
                </a:lnTo>
                <a:cubicBezTo>
                  <a:pt x="303312" y="31750"/>
                  <a:pt x="317500" y="45938"/>
                  <a:pt x="317500" y="63500"/>
                </a:cubicBezTo>
                <a:lnTo>
                  <a:pt x="317500" y="127000"/>
                </a:lnTo>
                <a:cubicBezTo>
                  <a:pt x="317500" y="144562"/>
                  <a:pt x="303312" y="158750"/>
                  <a:pt x="285750" y="158750"/>
                </a:cubicBezTo>
                <a:lnTo>
                  <a:pt x="277813" y="158750"/>
                </a:lnTo>
                <a:lnTo>
                  <a:pt x="277813" y="222250"/>
                </a:lnTo>
                <a:lnTo>
                  <a:pt x="396875" y="222250"/>
                </a:lnTo>
                <a:cubicBezTo>
                  <a:pt x="436364" y="222250"/>
                  <a:pt x="468313" y="254198"/>
                  <a:pt x="468313" y="293688"/>
                </a:cubicBezTo>
                <a:lnTo>
                  <a:pt x="468313" y="349250"/>
                </a:lnTo>
                <a:lnTo>
                  <a:pt x="476250" y="349250"/>
                </a:lnTo>
                <a:cubicBezTo>
                  <a:pt x="493812" y="349250"/>
                  <a:pt x="508000" y="363438"/>
                  <a:pt x="508000" y="381000"/>
                </a:cubicBezTo>
                <a:lnTo>
                  <a:pt x="508000" y="444500"/>
                </a:lnTo>
                <a:cubicBezTo>
                  <a:pt x="508000" y="462062"/>
                  <a:pt x="493812" y="476250"/>
                  <a:pt x="476250" y="476250"/>
                </a:cubicBezTo>
                <a:lnTo>
                  <a:pt x="412750" y="476250"/>
                </a:lnTo>
                <a:cubicBezTo>
                  <a:pt x="395188" y="476250"/>
                  <a:pt x="381000" y="462062"/>
                  <a:pt x="381000" y="444500"/>
                </a:cubicBezTo>
                <a:lnTo>
                  <a:pt x="381000" y="381000"/>
                </a:lnTo>
                <a:cubicBezTo>
                  <a:pt x="381000" y="363438"/>
                  <a:pt x="395188" y="349250"/>
                  <a:pt x="412750" y="349250"/>
                </a:cubicBezTo>
                <a:lnTo>
                  <a:pt x="420688" y="349250"/>
                </a:lnTo>
                <a:lnTo>
                  <a:pt x="420688" y="293688"/>
                </a:lnTo>
                <a:cubicBezTo>
                  <a:pt x="420688" y="280491"/>
                  <a:pt x="410071" y="269875"/>
                  <a:pt x="396875" y="269875"/>
                </a:cubicBezTo>
                <a:lnTo>
                  <a:pt x="277813" y="269875"/>
                </a:lnTo>
                <a:lnTo>
                  <a:pt x="277813" y="349250"/>
                </a:lnTo>
                <a:lnTo>
                  <a:pt x="285750" y="349250"/>
                </a:lnTo>
                <a:cubicBezTo>
                  <a:pt x="303312" y="349250"/>
                  <a:pt x="317500" y="363438"/>
                  <a:pt x="317500" y="381000"/>
                </a:cubicBezTo>
                <a:lnTo>
                  <a:pt x="317500" y="444500"/>
                </a:lnTo>
                <a:cubicBezTo>
                  <a:pt x="317500" y="462062"/>
                  <a:pt x="303312" y="476250"/>
                  <a:pt x="285750" y="476250"/>
                </a:cubicBezTo>
                <a:lnTo>
                  <a:pt x="222250" y="476250"/>
                </a:lnTo>
                <a:cubicBezTo>
                  <a:pt x="204688" y="476250"/>
                  <a:pt x="190500" y="462062"/>
                  <a:pt x="190500" y="444500"/>
                </a:cubicBezTo>
                <a:lnTo>
                  <a:pt x="190500" y="381000"/>
                </a:lnTo>
                <a:cubicBezTo>
                  <a:pt x="190500" y="363438"/>
                  <a:pt x="204688" y="349250"/>
                  <a:pt x="222250" y="349250"/>
                </a:cubicBezTo>
                <a:lnTo>
                  <a:pt x="230188" y="349250"/>
                </a:lnTo>
                <a:lnTo>
                  <a:pt x="230188" y="269875"/>
                </a:lnTo>
                <a:lnTo>
                  <a:pt x="111125" y="269875"/>
                </a:lnTo>
                <a:cubicBezTo>
                  <a:pt x="97929" y="269875"/>
                  <a:pt x="87313" y="280491"/>
                  <a:pt x="87313" y="293688"/>
                </a:cubicBezTo>
                <a:lnTo>
                  <a:pt x="87313" y="349250"/>
                </a:lnTo>
                <a:lnTo>
                  <a:pt x="95250" y="349250"/>
                </a:lnTo>
                <a:cubicBezTo>
                  <a:pt x="112812" y="349250"/>
                  <a:pt x="127000" y="363438"/>
                  <a:pt x="127000" y="381000"/>
                </a:cubicBezTo>
                <a:lnTo>
                  <a:pt x="127000" y="444500"/>
                </a:lnTo>
                <a:cubicBezTo>
                  <a:pt x="127000" y="462062"/>
                  <a:pt x="112812" y="476250"/>
                  <a:pt x="95250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381000"/>
                </a:lnTo>
                <a:cubicBezTo>
                  <a:pt x="0" y="363438"/>
                  <a:pt x="14188" y="349250"/>
                  <a:pt x="31750" y="349250"/>
                </a:cubicBezTo>
                <a:lnTo>
                  <a:pt x="39688" y="349250"/>
                </a:lnTo>
                <a:lnTo>
                  <a:pt x="39688" y="293688"/>
                </a:lnTo>
                <a:cubicBezTo>
                  <a:pt x="39688" y="254198"/>
                  <a:pt x="71636" y="222250"/>
                  <a:pt x="111125" y="222250"/>
                </a:cubicBezTo>
                <a:lnTo>
                  <a:pt x="230188" y="222250"/>
                </a:lnTo>
                <a:lnTo>
                  <a:pt x="230188" y="158750"/>
                </a:lnTo>
                <a:lnTo>
                  <a:pt x="222250" y="158750"/>
                </a:lnTo>
                <a:cubicBezTo>
                  <a:pt x="204688" y="158750"/>
                  <a:pt x="190500" y="144562"/>
                  <a:pt x="190500" y="127000"/>
                </a:cubicBezTo>
                <a:lnTo>
                  <a:pt x="190500" y="6350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Text 19"/>
          <p:cNvSpPr/>
          <p:nvPr/>
        </p:nvSpPr>
        <p:spPr>
          <a:xfrm>
            <a:off x="6096000" y="27305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Arbre de Décision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096000" y="3302000"/>
            <a:ext cx="406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Capable de capturer des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relations non-linéaires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dans les données.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400" dirty="0">
                <a:solidFill>
                  <a:srgbClr val="8B9EB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Risque de surapprentissage si l'arbre est trop profond.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922000" y="1651000"/>
            <a:ext cx="4572000" cy="4826000"/>
          </a:xfrm>
          <a:prstGeom prst="rect">
            <a:avLst/>
          </a:prstGeom>
          <a:solidFill>
            <a:srgbClr val="EDEAE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22000" y="1651000"/>
            <a:ext cx="4572000" cy="76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760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-31750"/>
                </a:moveTo>
                <a:cubicBezTo>
                  <a:pt x="261938" y="-31750"/>
                  <a:pt x="269535" y="-28674"/>
                  <a:pt x="274751" y="-23316"/>
                </a:cubicBezTo>
                <a:lnTo>
                  <a:pt x="428965" y="135434"/>
                </a:lnTo>
                <a:cubicBezTo>
                  <a:pt x="435882" y="142478"/>
                  <a:pt x="437356" y="152400"/>
                  <a:pt x="432934" y="160834"/>
                </a:cubicBezTo>
                <a:cubicBezTo>
                  <a:pt x="428512" y="169267"/>
                  <a:pt x="418873" y="174625"/>
                  <a:pt x="408214" y="174625"/>
                </a:cubicBezTo>
                <a:lnTo>
                  <a:pt x="379979" y="174625"/>
                </a:lnTo>
                <a:lnTo>
                  <a:pt x="465251" y="262434"/>
                </a:lnTo>
                <a:cubicBezTo>
                  <a:pt x="472168" y="269478"/>
                  <a:pt x="473642" y="279400"/>
                  <a:pt x="469220" y="287834"/>
                </a:cubicBezTo>
                <a:cubicBezTo>
                  <a:pt x="464797" y="296267"/>
                  <a:pt x="455159" y="301625"/>
                  <a:pt x="444500" y="301625"/>
                </a:cubicBezTo>
                <a:lnTo>
                  <a:pt x="400844" y="301625"/>
                </a:lnTo>
                <a:lnTo>
                  <a:pt x="501537" y="405309"/>
                </a:lnTo>
                <a:cubicBezTo>
                  <a:pt x="508454" y="412353"/>
                  <a:pt x="509928" y="422275"/>
                  <a:pt x="505505" y="430709"/>
                </a:cubicBezTo>
                <a:cubicBezTo>
                  <a:pt x="501083" y="439142"/>
                  <a:pt x="491445" y="444500"/>
                  <a:pt x="480786" y="444500"/>
                </a:cubicBezTo>
                <a:lnTo>
                  <a:pt x="290286" y="444500"/>
                </a:lnTo>
                <a:lnTo>
                  <a:pt x="290286" y="508000"/>
                </a:lnTo>
                <a:cubicBezTo>
                  <a:pt x="290286" y="525562"/>
                  <a:pt x="274071" y="539750"/>
                  <a:pt x="254000" y="539750"/>
                </a:cubicBezTo>
                <a:cubicBezTo>
                  <a:pt x="233929" y="539750"/>
                  <a:pt x="217714" y="525562"/>
                  <a:pt x="217714" y="508000"/>
                </a:cubicBezTo>
                <a:lnTo>
                  <a:pt x="217714" y="444500"/>
                </a:lnTo>
                <a:lnTo>
                  <a:pt x="27214" y="444500"/>
                </a:lnTo>
                <a:cubicBezTo>
                  <a:pt x="16555" y="444500"/>
                  <a:pt x="6917" y="439142"/>
                  <a:pt x="2495" y="430709"/>
                </a:cubicBezTo>
                <a:cubicBezTo>
                  <a:pt x="-1928" y="422275"/>
                  <a:pt x="-454" y="412353"/>
                  <a:pt x="6463" y="405309"/>
                </a:cubicBezTo>
                <a:lnTo>
                  <a:pt x="107156" y="301625"/>
                </a:lnTo>
                <a:lnTo>
                  <a:pt x="63500" y="301625"/>
                </a:lnTo>
                <a:cubicBezTo>
                  <a:pt x="52841" y="301625"/>
                  <a:pt x="43203" y="296267"/>
                  <a:pt x="38780" y="287834"/>
                </a:cubicBezTo>
                <a:cubicBezTo>
                  <a:pt x="34358" y="279400"/>
                  <a:pt x="35832" y="269478"/>
                  <a:pt x="42749" y="262434"/>
                </a:cubicBezTo>
                <a:lnTo>
                  <a:pt x="128021" y="174625"/>
                </a:lnTo>
                <a:lnTo>
                  <a:pt x="99786" y="174625"/>
                </a:lnTo>
                <a:cubicBezTo>
                  <a:pt x="89127" y="174625"/>
                  <a:pt x="79488" y="169267"/>
                  <a:pt x="75066" y="160834"/>
                </a:cubicBezTo>
                <a:cubicBezTo>
                  <a:pt x="70644" y="152400"/>
                  <a:pt x="72118" y="142478"/>
                  <a:pt x="79035" y="135434"/>
                </a:cubicBezTo>
                <a:lnTo>
                  <a:pt x="233249" y="-23316"/>
                </a:lnTo>
                <a:cubicBezTo>
                  <a:pt x="238465" y="-28674"/>
                  <a:pt x="246063" y="-31750"/>
                  <a:pt x="254000" y="-3175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6" name="Text 24"/>
          <p:cNvSpPr/>
          <p:nvPr/>
        </p:nvSpPr>
        <p:spPr>
          <a:xfrm>
            <a:off x="11176000" y="27305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176000" y="3302000"/>
            <a:ext cx="406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Modèle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ensembliste robuste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réduit le surapprentissage de l'arbre seul.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400" dirty="0">
                <a:solidFill>
                  <a:srgbClr val="8B9EB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Agrège plusieurs arbres pour une meilleure généralisation.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2000" y="6858000"/>
            <a:ext cx="14732000" cy="1270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717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3914" y="0"/>
                </a:moveTo>
                <a:lnTo>
                  <a:pt x="130629" y="0"/>
                </a:lnTo>
                <a:cubicBezTo>
                  <a:pt x="112565" y="0"/>
                  <a:pt x="97971" y="12769"/>
                  <a:pt x="97971" y="28575"/>
                </a:cubicBezTo>
                <a:cubicBezTo>
                  <a:pt x="97971" y="44381"/>
                  <a:pt x="112565" y="57150"/>
                  <a:pt x="130629" y="57150"/>
                </a:cubicBezTo>
                <a:lnTo>
                  <a:pt x="130629" y="192435"/>
                </a:lnTo>
                <a:lnTo>
                  <a:pt x="7654" y="380673"/>
                </a:lnTo>
                <a:cubicBezTo>
                  <a:pt x="2653" y="388441"/>
                  <a:pt x="0" y="397103"/>
                  <a:pt x="0" y="406033"/>
                </a:cubicBezTo>
                <a:cubicBezTo>
                  <a:pt x="0" y="434340"/>
                  <a:pt x="26126" y="457200"/>
                  <a:pt x="58477" y="457200"/>
                </a:cubicBezTo>
                <a:lnTo>
                  <a:pt x="398723" y="457200"/>
                </a:lnTo>
                <a:cubicBezTo>
                  <a:pt x="430972" y="457200"/>
                  <a:pt x="457200" y="434340"/>
                  <a:pt x="457200" y="406033"/>
                </a:cubicBezTo>
                <a:cubicBezTo>
                  <a:pt x="457200" y="397103"/>
                  <a:pt x="454547" y="388352"/>
                  <a:pt x="449546" y="380673"/>
                </a:cubicBezTo>
                <a:lnTo>
                  <a:pt x="326571" y="192435"/>
                </a:lnTo>
                <a:lnTo>
                  <a:pt x="326571" y="57150"/>
                </a:lnTo>
                <a:cubicBezTo>
                  <a:pt x="344635" y="57150"/>
                  <a:pt x="359229" y="44381"/>
                  <a:pt x="359229" y="28575"/>
                </a:cubicBezTo>
                <a:cubicBezTo>
                  <a:pt x="359229" y="12769"/>
                  <a:pt x="344635" y="0"/>
                  <a:pt x="326571" y="0"/>
                </a:cubicBezTo>
                <a:lnTo>
                  <a:pt x="293914" y="0"/>
                </a:lnTo>
                <a:close/>
                <a:moveTo>
                  <a:pt x="195943" y="192435"/>
                </a:moveTo>
                <a:lnTo>
                  <a:pt x="195943" y="57150"/>
                </a:lnTo>
                <a:lnTo>
                  <a:pt x="261257" y="57150"/>
                </a:lnTo>
                <a:lnTo>
                  <a:pt x="261257" y="192435"/>
                </a:lnTo>
                <a:cubicBezTo>
                  <a:pt x="261257" y="202347"/>
                  <a:pt x="264217" y="212169"/>
                  <a:pt x="269830" y="220831"/>
                </a:cubicBezTo>
                <a:lnTo>
                  <a:pt x="312284" y="285750"/>
                </a:lnTo>
                <a:lnTo>
                  <a:pt x="144916" y="285750"/>
                </a:lnTo>
                <a:lnTo>
                  <a:pt x="187370" y="220831"/>
                </a:lnTo>
                <a:cubicBezTo>
                  <a:pt x="192983" y="212169"/>
                  <a:pt x="195943" y="202436"/>
                  <a:pt x="195943" y="19243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778000" y="6858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Protocole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445000" y="7112000"/>
            <a:ext cx="0" cy="762000"/>
          </a:xfrm>
          <a:prstGeom prst="straightConnector1">
            <a:avLst/>
          </a:prstGeom>
          <a:noFill/>
          <a:ln w="12700">
            <a:solidFill>
              <a:srgbClr val="FFFFFF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4826000" y="6985000"/>
            <a:ext cx="444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Entraînement (Train)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9906000" y="6985000"/>
            <a:ext cx="444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EB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5/8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32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MODÉLISATION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032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09000" y="419100"/>
            <a:ext cx="1270000" cy="38100"/>
          </a:xfrm>
          <a:prstGeom prst="rect">
            <a:avLst/>
          </a:prstGeom>
          <a:solidFill>
            <a:srgbClr val="BC4B51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192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7112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Évaluation et Résultats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70000"/>
            <a:ext cx="1016000" cy="0"/>
          </a:xfrm>
          <a:prstGeom prst="straightConnector1">
            <a:avLst/>
          </a:prstGeom>
          <a:noFill/>
          <a:ln w="38100">
            <a:solidFill>
              <a:srgbClr val="BC4B51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62000" y="1524000"/>
            <a:ext cx="6858000" cy="1651000"/>
          </a:xfrm>
          <a:prstGeom prst="rect">
            <a:avLst/>
          </a:prstGeom>
          <a:solidFill>
            <a:srgbClr val="EDEAE6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524000"/>
            <a:ext cx="63500" cy="1651000"/>
          </a:xfrm>
          <a:prstGeom prst="rect">
            <a:avLst/>
          </a:prstGeom>
          <a:solidFill>
            <a:srgbClr val="BC4B51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1587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Métriques choisies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16000" y="20066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Vu le déséquilibre des classes, l'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n'est pas suffisante. Nous avons utilisé le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BC4B5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comme métrique principale.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3403600"/>
            <a:ext cx="685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s'est avéré être le modèle le plus stable.</a:t>
            </a:r>
            <a:endParaRPr lang="en-US" sz="1800" dirty="0"/>
          </a:p>
        </p:txBody>
      </p:sp>
      <p:pic>
        <p:nvPicPr>
          <p:cNvPr id="18" name="Image 0" descr="https://kimi-img.moonshot.cn/pub/slides/okc/ypfdy65vf77k4/mnt/agents/output/accident-prediction/images/model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4064000"/>
            <a:ext cx="6858000" cy="4318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128000" y="15240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Matrice de Confusion - Random Forest</a:t>
            </a:r>
            <a:endParaRPr lang="en-US" sz="2200" dirty="0"/>
          </a:p>
        </p:txBody>
      </p:sp>
      <p:pic>
        <p:nvPicPr>
          <p:cNvPr id="20" name="Image 1" descr="https://kimi-img.moonshot.cn/pub/slides/okc/ypfdy65vf77k4/mnt/agents/output/accident-prediction/images/confusion_matrix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82000" y="2095500"/>
            <a:ext cx="6858000" cy="62865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EB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6/8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32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MODÉLISATION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0" y="0"/>
            <a:ext cx="2032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541000" y="419100"/>
            <a:ext cx="1270000" cy="38100"/>
          </a:xfrm>
          <a:prstGeom prst="rect">
            <a:avLst/>
          </a:prstGeom>
          <a:solidFill>
            <a:srgbClr val="BC4B51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0" y="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Déploiement avec Streamlit (Bonus)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70000"/>
            <a:ext cx="1016000" cy="0"/>
          </a:xfrm>
          <a:prstGeom prst="straightConnector1">
            <a:avLst/>
          </a:prstGeom>
          <a:noFill/>
          <a:ln w="38100">
            <a:solidFill>
              <a:srgbClr val="BC4B51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62000" y="1651000"/>
            <a:ext cx="5080000" cy="6731000"/>
          </a:xfrm>
          <a:prstGeom prst="rect">
            <a:avLst/>
          </a:prstGeom>
          <a:solidFill>
            <a:srgbClr val="EDEAE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1968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548572" y="218827"/>
                </a:moveTo>
                <a:cubicBezTo>
                  <a:pt x="538968" y="185103"/>
                  <a:pt x="520757" y="159673"/>
                  <a:pt x="481965" y="159673"/>
                </a:cubicBezTo>
                <a:lnTo>
                  <a:pt x="431947" y="159673"/>
                </a:lnTo>
                <a:lnTo>
                  <a:pt x="431947" y="211405"/>
                </a:lnTo>
                <a:cubicBezTo>
                  <a:pt x="431947" y="251569"/>
                  <a:pt x="393031" y="285403"/>
                  <a:pt x="348626" y="285403"/>
                </a:cubicBezTo>
                <a:lnTo>
                  <a:pt x="215412" y="285403"/>
                </a:lnTo>
                <a:cubicBezTo>
                  <a:pt x="178991" y="285403"/>
                  <a:pt x="148805" y="312688"/>
                  <a:pt x="148805" y="344666"/>
                </a:cubicBezTo>
                <a:lnTo>
                  <a:pt x="148805" y="455771"/>
                </a:lnTo>
                <a:cubicBezTo>
                  <a:pt x="148805" y="487422"/>
                  <a:pt x="180238" y="505976"/>
                  <a:pt x="215412" y="515035"/>
                </a:cubicBezTo>
                <a:cubicBezTo>
                  <a:pt x="257572" y="525840"/>
                  <a:pt x="298110" y="527804"/>
                  <a:pt x="348626" y="515035"/>
                </a:cubicBezTo>
                <a:cubicBezTo>
                  <a:pt x="382179" y="506522"/>
                  <a:pt x="415233" y="489387"/>
                  <a:pt x="415233" y="455771"/>
                </a:cubicBezTo>
                <a:lnTo>
                  <a:pt x="415233" y="411351"/>
                </a:lnTo>
                <a:lnTo>
                  <a:pt x="282144" y="411351"/>
                </a:lnTo>
                <a:lnTo>
                  <a:pt x="282144" y="396508"/>
                </a:lnTo>
                <a:lnTo>
                  <a:pt x="481965" y="396508"/>
                </a:lnTo>
                <a:cubicBezTo>
                  <a:pt x="520757" y="396508"/>
                  <a:pt x="535101" y="372824"/>
                  <a:pt x="548572" y="337354"/>
                </a:cubicBezTo>
                <a:cubicBezTo>
                  <a:pt x="562542" y="300792"/>
                  <a:pt x="561918" y="265648"/>
                  <a:pt x="548572" y="218827"/>
                </a:cubicBezTo>
                <a:close/>
                <a:moveTo>
                  <a:pt x="356983" y="485348"/>
                </a:moveTo>
                <a:cubicBezTo>
                  <a:pt x="347490" y="485931"/>
                  <a:pt x="338419" y="481830"/>
                  <a:pt x="333470" y="474718"/>
                </a:cubicBezTo>
                <a:cubicBezTo>
                  <a:pt x="328520" y="467605"/>
                  <a:pt x="328520" y="458671"/>
                  <a:pt x="333470" y="451559"/>
                </a:cubicBezTo>
                <a:cubicBezTo>
                  <a:pt x="338419" y="444447"/>
                  <a:pt x="347490" y="440345"/>
                  <a:pt x="356983" y="440928"/>
                </a:cubicBezTo>
                <a:cubicBezTo>
                  <a:pt x="366477" y="440345"/>
                  <a:pt x="375548" y="444447"/>
                  <a:pt x="380497" y="451559"/>
                </a:cubicBezTo>
                <a:cubicBezTo>
                  <a:pt x="385447" y="458671"/>
                  <a:pt x="385447" y="467605"/>
                  <a:pt x="380497" y="474718"/>
                </a:cubicBezTo>
                <a:cubicBezTo>
                  <a:pt x="375548" y="481830"/>
                  <a:pt x="366477" y="485931"/>
                  <a:pt x="356983" y="485348"/>
                </a:cubicBezTo>
                <a:close/>
                <a:moveTo>
                  <a:pt x="209301" y="270778"/>
                </a:moveTo>
                <a:lnTo>
                  <a:pt x="342514" y="270778"/>
                </a:lnTo>
                <a:cubicBezTo>
                  <a:pt x="379560" y="270778"/>
                  <a:pt x="409121" y="244038"/>
                  <a:pt x="409121" y="211515"/>
                </a:cubicBezTo>
                <a:lnTo>
                  <a:pt x="409121" y="100300"/>
                </a:lnTo>
                <a:cubicBezTo>
                  <a:pt x="409121" y="68649"/>
                  <a:pt x="378687" y="44966"/>
                  <a:pt x="342514" y="39618"/>
                </a:cubicBezTo>
                <a:cubicBezTo>
                  <a:pt x="297860" y="33179"/>
                  <a:pt x="249340" y="33506"/>
                  <a:pt x="209301" y="39727"/>
                </a:cubicBezTo>
                <a:cubicBezTo>
                  <a:pt x="152922" y="48458"/>
                  <a:pt x="142694" y="66685"/>
                  <a:pt x="142694" y="100409"/>
                </a:cubicBezTo>
                <a:lnTo>
                  <a:pt x="142694" y="144830"/>
                </a:lnTo>
                <a:lnTo>
                  <a:pt x="276032" y="144830"/>
                </a:lnTo>
                <a:lnTo>
                  <a:pt x="276032" y="159673"/>
                </a:lnTo>
                <a:lnTo>
                  <a:pt x="92676" y="159673"/>
                </a:lnTo>
                <a:cubicBezTo>
                  <a:pt x="53884" y="159673"/>
                  <a:pt x="19957" y="180082"/>
                  <a:pt x="9355" y="218827"/>
                </a:cubicBezTo>
                <a:cubicBezTo>
                  <a:pt x="-2869" y="263247"/>
                  <a:pt x="-3368" y="290969"/>
                  <a:pt x="9355" y="337354"/>
                </a:cubicBezTo>
                <a:cubicBezTo>
                  <a:pt x="18835" y="371842"/>
                  <a:pt x="41411" y="396508"/>
                  <a:pt x="80203" y="396508"/>
                </a:cubicBezTo>
                <a:lnTo>
                  <a:pt x="125979" y="396508"/>
                </a:lnTo>
                <a:lnTo>
                  <a:pt x="125979" y="343247"/>
                </a:lnTo>
                <a:cubicBezTo>
                  <a:pt x="125979" y="304721"/>
                  <a:pt x="164023" y="270778"/>
                  <a:pt x="209301" y="270778"/>
                </a:cubicBezTo>
                <a:close/>
                <a:moveTo>
                  <a:pt x="201068" y="70614"/>
                </a:moveTo>
                <a:cubicBezTo>
                  <a:pt x="215112" y="70614"/>
                  <a:pt x="226514" y="80590"/>
                  <a:pt x="226514" y="92879"/>
                </a:cubicBezTo>
                <a:cubicBezTo>
                  <a:pt x="226514" y="105167"/>
                  <a:pt x="215112" y="115143"/>
                  <a:pt x="201068" y="115143"/>
                </a:cubicBezTo>
                <a:cubicBezTo>
                  <a:pt x="187025" y="115143"/>
                  <a:pt x="175623" y="105167"/>
                  <a:pt x="175623" y="92879"/>
                </a:cubicBezTo>
                <a:cubicBezTo>
                  <a:pt x="175623" y="80590"/>
                  <a:pt x="187025" y="70614"/>
                  <a:pt x="201068" y="70614"/>
                </a:cubicBezTo>
                <a:close/>
              </a:path>
            </a:pathLst>
          </a:custGeom>
          <a:solidFill>
            <a:srgbClr val="2D3142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2730500"/>
            <a:ext cx="457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L'Application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16000" y="32766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Création d'une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web interactive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 Streamlit.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16000" y="4445000"/>
            <a:ext cx="4572000" cy="0"/>
          </a:xfrm>
          <a:prstGeom prst="straightConnector1">
            <a:avLst/>
          </a:prstGeom>
          <a:noFill/>
          <a:ln w="12700">
            <a:solidFill>
              <a:srgbClr val="8B9EB7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016000" y="4699000"/>
            <a:ext cx="457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Fonctionnement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16000" y="5245100"/>
            <a:ext cx="457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L'utilisateur entre les conditions du trajet :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Météo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Âge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Lumière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modèle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(.pkl) prédit en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temps réel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 gravité.</a:t>
            </a:r>
            <a:endParaRPr lang="en-US" sz="1600" dirty="0"/>
          </a:p>
        </p:txBody>
      </p:sp>
      <p:pic>
        <p:nvPicPr>
          <p:cNvPr id="20" name="Image 0" descr="https://kimi-img.moonshot.cn/pub/slides/okc/ypfdy65vf77k4/mnt/agents/output/accident-prediction/images/streamlit_ap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0000" y="1651000"/>
            <a:ext cx="9144000" cy="67310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350000" y="1651000"/>
            <a:ext cx="9144000" cy="6731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CFC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EB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7/8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16000"/>
            <a:ext cx="63500" cy="1016000"/>
          </a:xfrm>
          <a:prstGeom prst="rect">
            <a:avLst/>
          </a:prstGeom>
          <a:solidFill>
            <a:srgbClr val="BC4B51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1016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16000" y="2032000"/>
            <a:ext cx="711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BC4B5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 que nous avons appris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16000" y="26035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Importance cruciale du 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nettoyage des données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de la 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gestion du déséquilibre des classes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Machine Learning.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16000" y="4191000"/>
            <a:ext cx="711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Améliorations futures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6000" y="47625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Utiliser la technique 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SMOTE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équilibrer artificiellement les classes</a:t>
            </a:r>
            <a:endParaRPr lang="en-US" sz="20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Tester des algorithmes de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Boosting (XGBoost)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890000" y="1270000"/>
            <a:ext cx="0" cy="66040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9144000" y="2540000"/>
            <a:ext cx="685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Merci pour votre attention !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652000" y="3683000"/>
            <a:ext cx="584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BC4B5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 questions ?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1430000" y="4572000"/>
            <a:ext cx="2286000" cy="0"/>
          </a:xfrm>
          <a:prstGeom prst="straightConnector1">
            <a:avLst/>
          </a:prstGeom>
          <a:noFill/>
          <a:ln w="25400">
            <a:solidFill>
              <a:srgbClr val="BC4B51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9652000" y="6604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Professeur encadrant : M. Abdallah Khemais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8/8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de la Gravité des Accidents de la Route</dc:title>
  <dc:subject>Prédiction de la Gravité des Accidents de la Route</dc:subject>
  <dc:creator>Kimi</dc:creator>
  <cp:lastModifiedBy>Kimi</cp:lastModifiedBy>
  <cp:revision>1</cp:revision>
  <dcterms:created xsi:type="dcterms:W3CDTF">2026-06-22T16:58:04Z</dcterms:created>
  <dcterms:modified xsi:type="dcterms:W3CDTF">2026-06-22T16:58:04Z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{"Label":"Prédiction de la Gravité des Accidents de la Route","ContentProducer":"001191110108MACG2KBH8F10000","ProduceID":"19ef0257-41c2-8cce-8000-00005f003a3f","ReservedCode1":"","ContentPropagator":"001191110108MACG2KBH8F20000","PropagateID":"19ef0224-17c2-8194-8000-09d5da98f715","ReservedCode2":""}</vt:lpwstr>
  </property>
</Properties>
</file>